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65" r:id="rId6"/>
    <p:sldId id="259" r:id="rId7"/>
    <p:sldId id="267" r:id="rId8"/>
    <p:sldId id="260" r:id="rId9"/>
    <p:sldId id="261" r:id="rId10"/>
    <p:sldId id="262" r:id="rId11"/>
    <p:sldId id="263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43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03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34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30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50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20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41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84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99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33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0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A9531-FABB-499D-AE30-9ED8F21940EC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C118F-BD19-413E-B982-1DFDD3C09D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76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1992A7-CB13-8888-0568-593A1BC3BDE5}"/>
              </a:ext>
            </a:extLst>
          </p:cNvPr>
          <p:cNvSpPr txBox="1"/>
          <p:nvPr/>
        </p:nvSpPr>
        <p:spPr>
          <a:xfrm>
            <a:off x="3579096" y="3105834"/>
            <a:ext cx="648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PCAT measure @ 3Dslicer</a:t>
            </a:r>
            <a:endParaRPr kumimoji="1" lang="ja-JP" altLang="en-US" sz="3600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D45D90-999A-4F5B-099C-646801F25B93}"/>
              </a:ext>
            </a:extLst>
          </p:cNvPr>
          <p:cNvSpPr txBox="1"/>
          <p:nvPr/>
        </p:nvSpPr>
        <p:spPr>
          <a:xfrm>
            <a:off x="10305068" y="6488668"/>
            <a:ext cx="1886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Ver.1 2025/12/20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7044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EA69-D839-D5CD-1E2A-5F06F88F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4495C7-98E2-C6DE-7B5F-C74791660660}"/>
              </a:ext>
            </a:extLst>
          </p:cNvPr>
          <p:cNvSpPr txBox="1"/>
          <p:nvPr/>
        </p:nvSpPr>
        <p:spPr>
          <a:xfrm>
            <a:off x="5215965" y="3105834"/>
            <a:ext cx="1760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Setup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18435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5793CD-6315-5898-873F-1DF2B8D315FB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setup</a:t>
            </a:r>
            <a:endParaRPr kumimoji="1" lang="ja-JP" altLang="en-US" sz="3600" b="1" dirty="0">
              <a:highlight>
                <a:srgbClr val="00FF00"/>
              </a:highligh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C7AC10-8E6B-7FB4-358E-1E71D7791ACD}"/>
              </a:ext>
            </a:extLst>
          </p:cNvPr>
          <p:cNvSpPr txBox="1"/>
          <p:nvPr/>
        </p:nvSpPr>
        <p:spPr>
          <a:xfrm>
            <a:off x="655092" y="1369156"/>
            <a:ext cx="9280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①</a:t>
            </a:r>
            <a:r>
              <a:rPr kumimoji="1" lang="en-US" altLang="ja-JP" b="1" dirty="0"/>
              <a:t> “</a:t>
            </a:r>
            <a:r>
              <a:rPr kumimoji="1" lang="en-US" altLang="ja-JP" b="1" dirty="0" err="1"/>
              <a:t>SlicerVMTK</a:t>
            </a:r>
            <a:r>
              <a:rPr lang="en-US" altLang="ja-JP" b="1" dirty="0"/>
              <a:t>” </a:t>
            </a:r>
            <a:r>
              <a:rPr lang="ja-JP" altLang="en-US" b="1" dirty="0"/>
              <a:t>をインストールして</a:t>
            </a:r>
            <a:r>
              <a:rPr lang="en-US" altLang="ja-JP" b="1" dirty="0"/>
              <a:t>3Dslicer</a:t>
            </a:r>
            <a:r>
              <a:rPr lang="ja-JP" altLang="en-US" b="1" dirty="0"/>
              <a:t>を再起動</a:t>
            </a:r>
            <a:endParaRPr kumimoji="1" lang="ja-JP" altLang="en-US" b="1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0A3257F-8C3C-F090-30F7-F62CCF8F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506" t="1" r="21032" b="92689"/>
          <a:stretch>
            <a:fillRect/>
          </a:stretch>
        </p:blipFill>
        <p:spPr>
          <a:xfrm>
            <a:off x="1746700" y="1851693"/>
            <a:ext cx="3486434" cy="780927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8BCF28-FAF5-80CC-16BB-BB3EB5411632}"/>
              </a:ext>
            </a:extLst>
          </p:cNvPr>
          <p:cNvSpPr/>
          <p:nvPr/>
        </p:nvSpPr>
        <p:spPr>
          <a:xfrm>
            <a:off x="4093849" y="2029046"/>
            <a:ext cx="333375" cy="39052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7E4A587-D360-A998-92E3-C6D23C66A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96" t="25297" r="28047" b="60672"/>
          <a:stretch>
            <a:fillRect/>
          </a:stretch>
        </p:blipFill>
        <p:spPr>
          <a:xfrm>
            <a:off x="6754932" y="1576085"/>
            <a:ext cx="1597000" cy="1498966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14DB6CD-C6C8-0324-053B-D934B989033A}"/>
              </a:ext>
            </a:extLst>
          </p:cNvPr>
          <p:cNvCxnSpPr>
            <a:cxnSpLocks/>
          </p:cNvCxnSpPr>
          <p:nvPr/>
        </p:nvCxnSpPr>
        <p:spPr>
          <a:xfrm>
            <a:off x="5562600" y="2325568"/>
            <a:ext cx="533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637055-21AB-2CD4-A2B3-A201E5729471}"/>
              </a:ext>
            </a:extLst>
          </p:cNvPr>
          <p:cNvSpPr txBox="1"/>
          <p:nvPr/>
        </p:nvSpPr>
        <p:spPr>
          <a:xfrm>
            <a:off x="655091" y="3201853"/>
            <a:ext cx="10974933" cy="2540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② </a:t>
            </a:r>
            <a:r>
              <a:rPr kumimoji="1" lang="en-US" altLang="ja-JP" b="1" dirty="0"/>
              <a:t>Edit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Application </a:t>
            </a:r>
            <a:r>
              <a:rPr kumimoji="1" lang="en-US" altLang="ja-JP" b="1" dirty="0" err="1"/>
              <a:t>setttings</a:t>
            </a:r>
            <a:r>
              <a:rPr kumimoji="1" lang="en-US" altLang="ja-JP" b="1" dirty="0"/>
              <a:t>  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Modules 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Additional module paths </a:t>
            </a:r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⇒ </a:t>
            </a:r>
            <a:r>
              <a:rPr kumimoji="1" lang="en-US" altLang="ja-JP" b="1" dirty="0"/>
              <a:t>Add </a:t>
            </a:r>
            <a:r>
              <a:rPr kumimoji="1" lang="en-US" altLang="ja-JP" b="1" dirty="0" err="1"/>
              <a:t>Pcat_measure</a:t>
            </a:r>
            <a:r>
              <a:rPr kumimoji="1" lang="en-US" altLang="ja-JP" b="1" dirty="0"/>
              <a:t> directory paths</a:t>
            </a:r>
          </a:p>
          <a:p>
            <a:pPr>
              <a:lnSpc>
                <a:spcPct val="150000"/>
              </a:lnSpc>
            </a:pPr>
            <a:r>
              <a:rPr kumimoji="1" lang="en-US" altLang="ja-JP" b="1" dirty="0"/>
              <a:t>     </a:t>
            </a:r>
            <a:r>
              <a:rPr kumimoji="1" lang="ja-JP" altLang="en-US" b="1" dirty="0"/>
              <a:t>⇒ </a:t>
            </a:r>
            <a:r>
              <a:rPr kumimoji="1" lang="en-US" altLang="ja-JP" b="1" dirty="0"/>
              <a:t>3D slicer</a:t>
            </a:r>
            <a:r>
              <a:rPr kumimoji="1" lang="ja-JP" altLang="en-US" b="1" dirty="0"/>
              <a:t>を再起動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00C67EE-B8A5-01BD-2EC3-22F9DB51B3E8}"/>
              </a:ext>
            </a:extLst>
          </p:cNvPr>
          <p:cNvGrpSpPr/>
          <p:nvPr/>
        </p:nvGrpSpPr>
        <p:grpSpPr>
          <a:xfrm>
            <a:off x="4965794" y="3972572"/>
            <a:ext cx="6772275" cy="2618685"/>
            <a:chOff x="2547937" y="4095985"/>
            <a:chExt cx="6772275" cy="2618685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6AB212D2-8281-70D7-5BFE-2CA7AF17D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657"/>
            <a:stretch>
              <a:fillRect/>
            </a:stretch>
          </p:blipFill>
          <p:spPr>
            <a:xfrm>
              <a:off x="2547937" y="4095985"/>
              <a:ext cx="6772275" cy="2618685"/>
            </a:xfrm>
            <a:prstGeom prst="rect">
              <a:avLst/>
            </a:prstGeom>
          </p:spPr>
        </p:pic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10E44EC-07BD-0619-BAEB-63FD0CE5D3FD}"/>
                </a:ext>
              </a:extLst>
            </p:cNvPr>
            <p:cNvSpPr/>
            <p:nvPr/>
          </p:nvSpPr>
          <p:spPr>
            <a:xfrm>
              <a:off x="8185244" y="5703627"/>
              <a:ext cx="796831" cy="297123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384B3AE-B63C-2744-E02C-500E34B24149}"/>
                </a:ext>
              </a:extLst>
            </p:cNvPr>
            <p:cNvSpPr/>
            <p:nvPr/>
          </p:nvSpPr>
          <p:spPr>
            <a:xfrm>
              <a:off x="5164184" y="5770302"/>
              <a:ext cx="1808116" cy="230448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493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555A-BF4B-C917-E615-2BB1EF05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FD2A2F-B223-10A0-2C82-A3B01B986175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setup</a:t>
            </a:r>
            <a:endParaRPr kumimoji="1" lang="ja-JP" altLang="en-US" sz="3600" b="1" dirty="0">
              <a:highlight>
                <a:srgbClr val="00FF00"/>
              </a:highlight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D1AFD62-80FF-E98E-4234-3444094D0A58}"/>
              </a:ext>
            </a:extLst>
          </p:cNvPr>
          <p:cNvSpPr txBox="1"/>
          <p:nvPr/>
        </p:nvSpPr>
        <p:spPr>
          <a:xfrm>
            <a:off x="6910943" y="398797"/>
            <a:ext cx="5186850" cy="88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⑤もう一度再起動して</a:t>
            </a:r>
            <a:r>
              <a:rPr kumimoji="1" lang="en-US" altLang="ja-JP" b="1" dirty="0"/>
              <a:t>module </a:t>
            </a:r>
            <a:r>
              <a:rPr kumimoji="1" lang="ja-JP" altLang="en-US" b="1" dirty="0"/>
              <a:t>リスト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に</a:t>
            </a:r>
            <a:r>
              <a:rPr kumimoji="1" lang="en-US" altLang="ja-JP" b="1" dirty="0" err="1"/>
              <a:t>Pcat</a:t>
            </a:r>
            <a:r>
              <a:rPr kumimoji="1" lang="en-US" altLang="ja-JP" b="1" dirty="0"/>
              <a:t> measurement</a:t>
            </a:r>
            <a:r>
              <a:rPr kumimoji="1" lang="ja-JP" altLang="en-US" b="1" dirty="0"/>
              <a:t>が表示されていれば</a:t>
            </a:r>
            <a:r>
              <a:rPr kumimoji="1" lang="en-US" altLang="ja-JP" b="1" dirty="0"/>
              <a:t>OK</a:t>
            </a:r>
            <a:endParaRPr kumimoji="1" lang="ja-JP" altLang="en-US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8E51CFF-027F-3F62-2AB1-30E9CCF8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48" t="3057" r="76264" b="59237"/>
          <a:stretch>
            <a:fillRect/>
          </a:stretch>
        </p:blipFill>
        <p:spPr>
          <a:xfrm>
            <a:off x="9089409" y="1306079"/>
            <a:ext cx="2857500" cy="501225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7022A4-F9AE-E60F-84A0-67AFB22B9BF4}"/>
              </a:ext>
            </a:extLst>
          </p:cNvPr>
          <p:cNvSpPr txBox="1"/>
          <p:nvPr/>
        </p:nvSpPr>
        <p:spPr>
          <a:xfrm>
            <a:off x="761386" y="1497778"/>
            <a:ext cx="6098134" cy="1298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③画像の</a:t>
            </a:r>
            <a:r>
              <a:rPr kumimoji="1" lang="en-US" altLang="ja-JP" b="1" dirty="0"/>
              <a:t>python interactor</a:t>
            </a:r>
            <a:r>
              <a:rPr kumimoji="1" lang="ja-JP" altLang="en-US" b="1" dirty="0"/>
              <a:t>をチェックしておく．</a:t>
            </a:r>
            <a:br>
              <a:rPr kumimoji="1" lang="en-US" altLang="ja-JP" b="1" dirty="0"/>
            </a:br>
            <a:r>
              <a:rPr kumimoji="1" lang="ja-JP" altLang="en-US" b="1" dirty="0"/>
              <a:t>　エラー表示用など．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CEBA7B9-EEE8-12D1-9B24-BBB1E5248EE1}"/>
              </a:ext>
            </a:extLst>
          </p:cNvPr>
          <p:cNvGrpSpPr/>
          <p:nvPr/>
        </p:nvGrpSpPr>
        <p:grpSpPr>
          <a:xfrm>
            <a:off x="1204447" y="2369626"/>
            <a:ext cx="4497686" cy="896336"/>
            <a:chOff x="6191226" y="1882556"/>
            <a:chExt cx="4497686" cy="89633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892B82C9-36FF-A53E-2A7D-A704ED553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746" t="3592" r="35573" b="90576"/>
            <a:stretch>
              <a:fillRect/>
            </a:stretch>
          </p:blipFill>
          <p:spPr>
            <a:xfrm>
              <a:off x="6191226" y="1882556"/>
              <a:ext cx="4497686" cy="896336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D32964F-9BB5-6B8F-56BE-DD67F8DDF989}"/>
                </a:ext>
              </a:extLst>
            </p:cNvPr>
            <p:cNvSpPr/>
            <p:nvPr/>
          </p:nvSpPr>
          <p:spPr>
            <a:xfrm>
              <a:off x="9566428" y="1882556"/>
              <a:ext cx="540145" cy="528943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7DE71E-F1C6-88FA-0BB8-38CD03EC7889}"/>
              </a:ext>
            </a:extLst>
          </p:cNvPr>
          <p:cNvSpPr txBox="1"/>
          <p:nvPr/>
        </p:nvSpPr>
        <p:spPr>
          <a:xfrm>
            <a:off x="761386" y="3922038"/>
            <a:ext cx="661980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④画面下の</a:t>
            </a:r>
            <a:r>
              <a:rPr kumimoji="1" lang="en-US" altLang="ja-JP" b="1" dirty="0"/>
              <a:t>python interactor</a:t>
            </a:r>
            <a:r>
              <a:rPr kumimoji="1" lang="ja-JP" altLang="en-US" b="1" dirty="0"/>
              <a:t>に</a:t>
            </a:r>
            <a:r>
              <a:rPr kumimoji="1" lang="en-US" altLang="ja-JP" b="1" dirty="0" err="1">
                <a:highlight>
                  <a:srgbClr val="FFFF00"/>
                </a:highlight>
              </a:rPr>
              <a:t>slicer.util.pip_install</a:t>
            </a:r>
            <a:r>
              <a:rPr kumimoji="1" lang="en-US" altLang="ja-JP" b="1" dirty="0">
                <a:highlight>
                  <a:srgbClr val="FFFF00"/>
                </a:highlight>
              </a:rPr>
              <a:t>(“</a:t>
            </a:r>
            <a:r>
              <a:rPr kumimoji="1" lang="en-US" altLang="ja-JP" b="1" dirty="0" err="1">
                <a:highlight>
                  <a:srgbClr val="FFFF00"/>
                </a:highlight>
              </a:rPr>
              <a:t>nibabel</a:t>
            </a:r>
            <a:r>
              <a:rPr kumimoji="1" lang="en-US" altLang="ja-JP" b="1" dirty="0">
                <a:highlight>
                  <a:srgbClr val="FFFF00"/>
                </a:highlight>
              </a:rPr>
              <a:t>”)</a:t>
            </a:r>
            <a:r>
              <a:rPr kumimoji="1" lang="ja-JP" altLang="en-US" b="1" dirty="0"/>
              <a:t>を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　入力して</a:t>
            </a:r>
            <a:r>
              <a:rPr kumimoji="1" lang="en-US" altLang="ja-JP" b="1" dirty="0"/>
              <a:t>enter</a:t>
            </a:r>
            <a:endParaRPr kumimoji="1" lang="ja-JP" altLang="en-US" b="1" dirty="0"/>
          </a:p>
          <a:p>
            <a:pPr>
              <a:lnSpc>
                <a:spcPct val="150000"/>
              </a:lnSpc>
            </a:pPr>
            <a:endParaRPr kumimoji="1" lang="ja-JP" altLang="en-US" b="1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8F5ECE9-6B10-B40B-E3EB-82EFA22E6B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80452" r="66225" b="16200"/>
          <a:stretch>
            <a:fillRect/>
          </a:stretch>
        </p:blipFill>
        <p:spPr>
          <a:xfrm>
            <a:off x="1071360" y="4892722"/>
            <a:ext cx="7805350" cy="4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8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5567C-4F80-6AC4-FB06-2EFE468E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2B0A0B-CA73-E13E-3272-0E1BC42A9ACD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setup error</a:t>
            </a:r>
            <a:endParaRPr kumimoji="1" lang="ja-JP" altLang="en-US" sz="3600" b="1" dirty="0">
              <a:highlight>
                <a:srgbClr val="00FF00"/>
              </a:highlight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9948A41-9A91-AA17-45EF-F4A6D3FBAD58}"/>
              </a:ext>
            </a:extLst>
          </p:cNvPr>
          <p:cNvSpPr txBox="1"/>
          <p:nvPr/>
        </p:nvSpPr>
        <p:spPr>
          <a:xfrm>
            <a:off x="736073" y="1973363"/>
            <a:ext cx="10259976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u="sng" dirty="0"/>
              <a:t>・</a:t>
            </a:r>
            <a:r>
              <a:rPr kumimoji="1" lang="en-US" altLang="ja-JP" b="1" u="sng" dirty="0" err="1"/>
              <a:t>slicerVMTK</a:t>
            </a:r>
            <a:r>
              <a:rPr kumimoji="1" lang="ja-JP" altLang="en-US" b="1" u="sng" dirty="0"/>
              <a:t>に関するエラーが出る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65EF69-001C-A40A-355B-44B2793F6F22}"/>
              </a:ext>
            </a:extLst>
          </p:cNvPr>
          <p:cNvSpPr txBox="1"/>
          <p:nvPr/>
        </p:nvSpPr>
        <p:spPr>
          <a:xfrm>
            <a:off x="1543003" y="3534823"/>
            <a:ext cx="9715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https://slicer-packages.kitware.com/#collection/5f4474d0e1d8c75dfc70547e/folder/5f4474d0e1d8c75dfc705482</a:t>
            </a:r>
            <a:endParaRPr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390856-D050-CC76-DD8B-F89F43950F1C}"/>
              </a:ext>
            </a:extLst>
          </p:cNvPr>
          <p:cNvSpPr txBox="1"/>
          <p:nvPr/>
        </p:nvSpPr>
        <p:spPr>
          <a:xfrm>
            <a:off x="655091" y="1275159"/>
            <a:ext cx="9346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u="sng" dirty="0"/>
              <a:t>“ </a:t>
            </a:r>
            <a:r>
              <a:rPr lang="en-US" altLang="ja-JP" sz="2000" b="1" u="sng" dirty="0" err="1"/>
              <a:t>Pcat</a:t>
            </a:r>
            <a:r>
              <a:rPr lang="en-US" altLang="ja-JP" sz="2000" b="1" u="sng" dirty="0"/>
              <a:t> measurement “ </a:t>
            </a:r>
            <a:r>
              <a:rPr lang="ja-JP" altLang="en-US" sz="2000" b="1" u="sng" dirty="0"/>
              <a:t>がモジュールリストに出ないとき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D8D763-F50C-FBB5-F833-151EDECE3E38}"/>
              </a:ext>
            </a:extLst>
          </p:cNvPr>
          <p:cNvSpPr txBox="1"/>
          <p:nvPr/>
        </p:nvSpPr>
        <p:spPr>
          <a:xfrm>
            <a:off x="1008311" y="2476070"/>
            <a:ext cx="922057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b="1" dirty="0"/>
              <a:t>3Dslicer</a:t>
            </a:r>
            <a:r>
              <a:rPr lang="ja-JP" altLang="en-US" b="1" dirty="0"/>
              <a:t>のバージョンがあっていない可能性あり．</a:t>
            </a:r>
            <a:endParaRPr lang="en-US" altLang="ja-JP" b="1" dirty="0"/>
          </a:p>
          <a:p>
            <a:pPr>
              <a:lnSpc>
                <a:spcPct val="150000"/>
              </a:lnSpc>
            </a:pPr>
            <a:r>
              <a:rPr lang="ja-JP" altLang="en-US" b="1" dirty="0"/>
              <a:t>下記の</a:t>
            </a:r>
            <a:r>
              <a:rPr lang="en-US" altLang="ja-JP" b="1" dirty="0"/>
              <a:t>URL</a:t>
            </a:r>
            <a:r>
              <a:rPr lang="ja-JP" altLang="en-US" b="1" dirty="0"/>
              <a:t>から</a:t>
            </a:r>
            <a:r>
              <a:rPr lang="en-US" altLang="ja-JP" b="1" dirty="0"/>
              <a:t>3Dslicer</a:t>
            </a:r>
            <a:r>
              <a:rPr lang="ja-JP" altLang="en-US" b="1" dirty="0"/>
              <a:t>の旧バージョン</a:t>
            </a:r>
            <a:r>
              <a:rPr lang="en-US" altLang="ja-JP" b="1" dirty="0"/>
              <a:t>(5.0.2</a:t>
            </a:r>
            <a:r>
              <a:rPr lang="ja-JP" altLang="en-US" b="1" dirty="0"/>
              <a:t>が確実</a:t>
            </a:r>
            <a:r>
              <a:rPr lang="en-US" altLang="ja-JP" b="1" dirty="0"/>
              <a:t>)</a:t>
            </a:r>
            <a:r>
              <a:rPr lang="ja-JP" altLang="en-US" b="1" dirty="0"/>
              <a:t>を</a:t>
            </a:r>
            <a:r>
              <a:rPr lang="en-US" altLang="ja-JP" b="1" dirty="0"/>
              <a:t>install</a:t>
            </a:r>
            <a:endParaRPr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3D8D763-F50C-FBB5-F833-151EDECE3E38}"/>
              </a:ext>
            </a:extLst>
          </p:cNvPr>
          <p:cNvSpPr txBox="1"/>
          <p:nvPr/>
        </p:nvSpPr>
        <p:spPr>
          <a:xfrm>
            <a:off x="1008311" y="4152566"/>
            <a:ext cx="922057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b="1" u="sng" dirty="0"/>
              <a:t>・それでもエラーが出て，</a:t>
            </a:r>
            <a:r>
              <a:rPr lang="en-US" altLang="ja-JP" b="1" u="sng" dirty="0" err="1"/>
              <a:t>pcat</a:t>
            </a:r>
            <a:r>
              <a:rPr lang="en-US" altLang="ja-JP" b="1" u="sng" dirty="0"/>
              <a:t> measurement</a:t>
            </a:r>
            <a:r>
              <a:rPr lang="ja-JP" altLang="en-US" b="1" u="sng" dirty="0"/>
              <a:t>がリストに出ないとき．</a:t>
            </a:r>
            <a:endParaRPr lang="en-US" altLang="ja-JP" b="1" u="sng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3C239C-6D4E-136C-FA72-F663DECAFA3D}"/>
              </a:ext>
            </a:extLst>
          </p:cNvPr>
          <p:cNvSpPr txBox="1"/>
          <p:nvPr/>
        </p:nvSpPr>
        <p:spPr>
          <a:xfrm>
            <a:off x="1008310" y="4879785"/>
            <a:ext cx="97154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“C:\Users\</a:t>
            </a:r>
            <a:r>
              <a:rPr lang="en-US" altLang="ja-JP" b="1" dirty="0"/>
              <a:t>user\</a:t>
            </a:r>
            <a:r>
              <a:rPr lang="ja-JP" altLang="en-US" b="1" dirty="0"/>
              <a:t>AppData\Local\NA-MIC”のフォルダ内に</a:t>
            </a:r>
            <a:r>
              <a:rPr lang="en-US" altLang="ja-JP" b="1" dirty="0"/>
              <a:t>3Dslicer</a:t>
            </a:r>
            <a:r>
              <a:rPr lang="ja-JP" altLang="en-US" b="1" dirty="0"/>
              <a:t>のフォルダが複数あるときは</a:t>
            </a:r>
            <a:endParaRPr lang="en-US" altLang="ja-JP" b="1" dirty="0"/>
          </a:p>
          <a:p>
            <a:r>
              <a:rPr lang="ja-JP" altLang="en-US" b="1" dirty="0"/>
              <a:t>すべて消してから再インストール．</a:t>
            </a:r>
            <a:br>
              <a:rPr lang="en-US" altLang="ja-JP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上のフォルダは例なので，インストールした</a:t>
            </a:r>
            <a:r>
              <a:rPr lang="en-US" altLang="ja-JP" sz="1200" dirty="0"/>
              <a:t>3Dslicer</a:t>
            </a:r>
            <a:r>
              <a:rPr lang="ja-JP" altLang="en-US" sz="1200" dirty="0"/>
              <a:t>のフォルダーをチェック．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58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C3CE-94B2-3F9E-1179-9440FD6C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4B221B-FF27-D12D-57FC-86AD910C699A}"/>
              </a:ext>
            </a:extLst>
          </p:cNvPr>
          <p:cNvSpPr txBox="1"/>
          <p:nvPr/>
        </p:nvSpPr>
        <p:spPr>
          <a:xfrm>
            <a:off x="545911" y="423080"/>
            <a:ext cx="854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Screen Description</a:t>
            </a:r>
            <a:endParaRPr kumimoji="1" lang="ja-JP" altLang="en-US" sz="3600" b="1" dirty="0">
              <a:highlight>
                <a:srgbClr val="00FF00"/>
              </a:highlight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A1957EE-8F0E-53EB-199F-08B7AF5F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355" b="35555"/>
          <a:stretch>
            <a:fillRect/>
          </a:stretch>
        </p:blipFill>
        <p:spPr>
          <a:xfrm>
            <a:off x="4525690" y="130113"/>
            <a:ext cx="3837260" cy="659777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940FAF-9E39-8385-9274-C0A8B3263D91}"/>
              </a:ext>
            </a:extLst>
          </p:cNvPr>
          <p:cNvSpPr txBox="1"/>
          <p:nvPr/>
        </p:nvSpPr>
        <p:spPr>
          <a:xfrm>
            <a:off x="9228358" y="1426382"/>
            <a:ext cx="2286884" cy="467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開発者モードの場合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3709837-E63D-0FE8-51C5-5E2AAD97DF7D}"/>
              </a:ext>
            </a:extLst>
          </p:cNvPr>
          <p:cNvCxnSpPr>
            <a:cxnSpLocks/>
          </p:cNvCxnSpPr>
          <p:nvPr/>
        </p:nvCxnSpPr>
        <p:spPr>
          <a:xfrm>
            <a:off x="8565534" y="1715968"/>
            <a:ext cx="533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9992A54-B38A-8ED4-7085-1B25F5AC4428}"/>
              </a:ext>
            </a:extLst>
          </p:cNvPr>
          <p:cNvCxnSpPr>
            <a:cxnSpLocks/>
          </p:cNvCxnSpPr>
          <p:nvPr/>
        </p:nvCxnSpPr>
        <p:spPr>
          <a:xfrm>
            <a:off x="8565534" y="2306518"/>
            <a:ext cx="533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1A0034-0619-61E3-F8CC-F8EAB2A78697}"/>
              </a:ext>
            </a:extLst>
          </p:cNvPr>
          <p:cNvSpPr txBox="1"/>
          <p:nvPr/>
        </p:nvSpPr>
        <p:spPr>
          <a:xfrm>
            <a:off x="9228358" y="2026457"/>
            <a:ext cx="1603040" cy="467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ファイル情報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E9A2D8C-097D-4E72-4115-6B188BFCF201}"/>
              </a:ext>
            </a:extLst>
          </p:cNvPr>
          <p:cNvCxnSpPr>
            <a:cxnSpLocks/>
          </p:cNvCxnSpPr>
          <p:nvPr/>
        </p:nvCxnSpPr>
        <p:spPr>
          <a:xfrm flipH="1">
            <a:off x="3734155" y="3035434"/>
            <a:ext cx="7183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7809F57-5148-3234-BDD5-121C100E010E}"/>
              </a:ext>
            </a:extLst>
          </p:cNvPr>
          <p:cNvSpPr txBox="1"/>
          <p:nvPr/>
        </p:nvSpPr>
        <p:spPr>
          <a:xfrm>
            <a:off x="1554449" y="2745848"/>
            <a:ext cx="2190750" cy="467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/>
              <a:t>解析対象の冠動脈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472F3D3-9293-CB1E-5789-3EEBB386E9F2}"/>
              </a:ext>
            </a:extLst>
          </p:cNvPr>
          <p:cNvSpPr txBox="1"/>
          <p:nvPr/>
        </p:nvSpPr>
        <p:spPr>
          <a:xfrm>
            <a:off x="342623" y="3325021"/>
            <a:ext cx="3402576" cy="8963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200" b="1" dirty="0"/>
              <a:t>解析データをどう読み込むか．</a:t>
            </a:r>
            <a:r>
              <a:rPr kumimoji="1" lang="en-US" altLang="ja-JP" sz="1200" b="1" dirty="0"/>
              <a:t>True</a:t>
            </a:r>
            <a:r>
              <a:rPr kumimoji="1" lang="ja-JP" altLang="en-US" sz="1200" b="1" dirty="0"/>
              <a:t>なら，</a:t>
            </a:r>
            <a:r>
              <a:rPr kumimoji="1" lang="en-US" altLang="ja-JP" sz="1200" b="1" dirty="0"/>
              <a:t>3Dslicer</a:t>
            </a:r>
            <a:r>
              <a:rPr kumimoji="1" lang="ja-JP" altLang="en-US" sz="1200" b="1" dirty="0"/>
              <a:t>の</a:t>
            </a:r>
            <a:r>
              <a:rPr kumimoji="1" lang="en-US" altLang="ja-JP" sz="1200" b="1" dirty="0"/>
              <a:t>Scene</a:t>
            </a:r>
            <a:r>
              <a:rPr kumimoji="1" lang="ja-JP" altLang="en-US" sz="1200" b="1" dirty="0"/>
              <a:t>から．</a:t>
            </a:r>
            <a:r>
              <a:rPr kumimoji="1" lang="en-US" altLang="ja-JP" sz="1200" b="1" dirty="0"/>
              <a:t>False</a:t>
            </a:r>
            <a:r>
              <a:rPr kumimoji="1" lang="ja-JP" altLang="en-US" sz="1200" b="1" dirty="0"/>
              <a:t>ならファイルダイアログから．</a:t>
            </a:r>
            <a:r>
              <a:rPr kumimoji="1" lang="en-US" altLang="ja-JP" sz="1200" b="1" dirty="0"/>
              <a:t>(default : True)</a:t>
            </a:r>
            <a:endParaRPr kumimoji="1" lang="ja-JP" altLang="en-US" sz="1200" b="1" dirty="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95F1978-8F68-F43F-A622-16E9FEA37E69}"/>
              </a:ext>
            </a:extLst>
          </p:cNvPr>
          <p:cNvCxnSpPr>
            <a:cxnSpLocks/>
          </p:cNvCxnSpPr>
          <p:nvPr/>
        </p:nvCxnSpPr>
        <p:spPr>
          <a:xfrm flipH="1">
            <a:off x="3734155" y="3557455"/>
            <a:ext cx="7183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977FEF9-9109-D4EC-A17A-16CF70DA7160}"/>
              </a:ext>
            </a:extLst>
          </p:cNvPr>
          <p:cNvCxnSpPr>
            <a:cxnSpLocks/>
          </p:cNvCxnSpPr>
          <p:nvPr/>
        </p:nvCxnSpPr>
        <p:spPr>
          <a:xfrm flipH="1">
            <a:off x="3763655" y="3772387"/>
            <a:ext cx="688873" cy="679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9E46067-5EEF-F807-50E8-8339A591C8CB}"/>
              </a:ext>
            </a:extLst>
          </p:cNvPr>
          <p:cNvSpPr txBox="1"/>
          <p:nvPr/>
        </p:nvSpPr>
        <p:spPr>
          <a:xfrm>
            <a:off x="1003595" y="4334055"/>
            <a:ext cx="2741604" cy="617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.PNG</a:t>
            </a:r>
            <a:r>
              <a:rPr kumimoji="1" lang="ja-JP" altLang="en-US" sz="1200" b="1" dirty="0"/>
              <a:t>で</a:t>
            </a:r>
            <a:r>
              <a:rPr kumimoji="1" lang="en-US" altLang="ja-JP" sz="1200" b="1" dirty="0"/>
              <a:t>CT</a:t>
            </a:r>
            <a:r>
              <a:rPr kumimoji="1" lang="ja-JP" altLang="en-US" sz="1200" b="1" dirty="0"/>
              <a:t>と</a:t>
            </a:r>
            <a:r>
              <a:rPr kumimoji="1" lang="en-US" altLang="ja-JP" sz="1200" b="1" dirty="0"/>
              <a:t>PCAT</a:t>
            </a:r>
            <a:r>
              <a:rPr kumimoji="1" lang="ja-JP" altLang="en-US" sz="1200" b="1" dirty="0"/>
              <a:t>領域の</a:t>
            </a:r>
            <a:r>
              <a:rPr kumimoji="1" lang="en-US" altLang="ja-JP" sz="1200" b="1" dirty="0"/>
              <a:t>overlay</a:t>
            </a:r>
            <a:r>
              <a:rPr kumimoji="1" lang="ja-JP" altLang="en-US" sz="1200" b="1" dirty="0"/>
              <a:t>を保存</a:t>
            </a:r>
            <a:endParaRPr kumimoji="1" lang="en-US" altLang="ja-JP" sz="1200" b="1" dirty="0"/>
          </a:p>
          <a:p>
            <a:pPr>
              <a:lnSpc>
                <a:spcPct val="150000"/>
              </a:lnSpc>
            </a:pPr>
            <a:r>
              <a:rPr kumimoji="1" lang="en-US" altLang="ja-JP" sz="1200" b="1" dirty="0"/>
              <a:t>(default False)</a:t>
            </a:r>
            <a:endParaRPr kumimoji="1" lang="ja-JP" altLang="en-US" sz="1200" b="1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227592F-FC52-F523-EE4A-245470084F60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355201" y="3561496"/>
            <a:ext cx="658816" cy="6654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E7E6A2-64AC-9498-2FCB-F1B4A34A7D45}"/>
              </a:ext>
            </a:extLst>
          </p:cNvPr>
          <p:cNvSpPr txBox="1"/>
          <p:nvPr/>
        </p:nvSpPr>
        <p:spPr>
          <a:xfrm>
            <a:off x="9014017" y="3390295"/>
            <a:ext cx="2156746" cy="342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Scene</a:t>
            </a:r>
            <a:r>
              <a:rPr kumimoji="1" lang="ja-JP" altLang="en-US" sz="1200" b="1" dirty="0"/>
              <a:t>の</a:t>
            </a:r>
            <a:r>
              <a:rPr kumimoji="1" lang="en-US" altLang="ja-JP" sz="1200" b="1" dirty="0"/>
              <a:t>CT</a:t>
            </a:r>
            <a:r>
              <a:rPr kumimoji="1" lang="ja-JP" altLang="en-US" sz="1200" b="1" dirty="0"/>
              <a:t>ファイル名を選択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DBCE0D4-5FA1-209D-8C0B-D362CC2AA41C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8362950" y="3991204"/>
            <a:ext cx="651064" cy="4547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45355D1-0451-A74E-526A-D170B185F949}"/>
              </a:ext>
            </a:extLst>
          </p:cNvPr>
          <p:cNvSpPr txBox="1"/>
          <p:nvPr/>
        </p:nvSpPr>
        <p:spPr>
          <a:xfrm>
            <a:off x="9014014" y="3820003"/>
            <a:ext cx="987825" cy="342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CT</a:t>
            </a:r>
            <a:r>
              <a:rPr kumimoji="1" lang="ja-JP" altLang="en-US" sz="1200" b="1" dirty="0"/>
              <a:t>をロード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6EFF3CE-D6AE-C8E9-0C94-17ACD022DDE8}"/>
              </a:ext>
            </a:extLst>
          </p:cNvPr>
          <p:cNvSpPr txBox="1"/>
          <p:nvPr/>
        </p:nvSpPr>
        <p:spPr>
          <a:xfrm>
            <a:off x="9014017" y="4379748"/>
            <a:ext cx="1261199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200" b="1" dirty="0"/>
              <a:t>起始部を設定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D7EA5A3-5E4B-8F60-036C-9C6662EBB4AC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8362950" y="4941438"/>
            <a:ext cx="651068" cy="1532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053E884-F10C-8B56-F539-8A58D9C139C4}"/>
              </a:ext>
            </a:extLst>
          </p:cNvPr>
          <p:cNvSpPr txBox="1"/>
          <p:nvPr/>
        </p:nvSpPr>
        <p:spPr>
          <a:xfrm>
            <a:off x="9014018" y="4770237"/>
            <a:ext cx="2760060" cy="342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Scene</a:t>
            </a:r>
            <a:r>
              <a:rPr kumimoji="1" lang="ja-JP" altLang="en-US" sz="1200" b="1" dirty="0"/>
              <a:t>のセグメンテーション名を選択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712C91D7-78D0-1716-9263-241C59666CC1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8355201" y="5305346"/>
            <a:ext cx="658816" cy="10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FC08544-AA92-2CD2-786C-5B8CFB033858}"/>
              </a:ext>
            </a:extLst>
          </p:cNvPr>
          <p:cNvSpPr txBox="1"/>
          <p:nvPr/>
        </p:nvSpPr>
        <p:spPr>
          <a:xfrm>
            <a:off x="9014017" y="5144476"/>
            <a:ext cx="1751393" cy="342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200" b="1" dirty="0"/>
              <a:t>解析する枝の</a:t>
            </a:r>
            <a:r>
              <a:rPr kumimoji="1" lang="en-US" altLang="ja-JP" sz="1200" b="1" dirty="0"/>
              <a:t>ID</a:t>
            </a:r>
            <a:r>
              <a:rPr kumimoji="1" lang="ja-JP" altLang="en-US" sz="1200" b="1" dirty="0"/>
              <a:t>を選択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BF4D1632-CDC1-0219-9744-A1CBA142AE50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8355201" y="4550115"/>
            <a:ext cx="658816" cy="690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36D55D00-AE98-C04F-9E2A-8E761E66347C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8335320" y="5550736"/>
            <a:ext cx="678696" cy="1703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8C20EDD-DBB7-08CA-8887-B82626A6DE09}"/>
              </a:ext>
            </a:extLst>
          </p:cNvPr>
          <p:cNvSpPr txBox="1"/>
          <p:nvPr/>
        </p:nvSpPr>
        <p:spPr>
          <a:xfrm>
            <a:off x="9014016" y="5550736"/>
            <a:ext cx="987824" cy="34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PCAT</a:t>
            </a:r>
            <a:r>
              <a:rPr kumimoji="1" lang="ja-JP" altLang="en-US" sz="1200" b="1" dirty="0"/>
              <a:t>の計算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6B4A1B21-9E2F-5410-1F63-17122EBD2BC7}"/>
              </a:ext>
            </a:extLst>
          </p:cNvPr>
          <p:cNvSpPr txBox="1"/>
          <p:nvPr/>
        </p:nvSpPr>
        <p:spPr>
          <a:xfrm>
            <a:off x="641023" y="5550736"/>
            <a:ext cx="3122632" cy="342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 dirty="0"/>
              <a:t>3Dslicer</a:t>
            </a:r>
            <a:r>
              <a:rPr kumimoji="1" lang="ja-JP" altLang="en-US" sz="1200" b="1" dirty="0"/>
              <a:t>から</a:t>
            </a:r>
            <a:r>
              <a:rPr kumimoji="1" lang="en-US" altLang="ja-JP" sz="1200" b="1" dirty="0"/>
              <a:t>CT</a:t>
            </a:r>
            <a:r>
              <a:rPr kumimoji="1" lang="ja-JP" altLang="en-US" sz="1200" b="1" dirty="0"/>
              <a:t>と</a:t>
            </a:r>
            <a:r>
              <a:rPr kumimoji="1" lang="en-US" altLang="ja-JP" sz="1200" b="1" dirty="0"/>
              <a:t>segmentation</a:t>
            </a:r>
            <a:r>
              <a:rPr kumimoji="1" lang="ja-JP" altLang="en-US" sz="1200" b="1" dirty="0"/>
              <a:t>データを消去</a:t>
            </a: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67CB01A7-DC4C-0686-AFEB-831E5EA50120}"/>
              </a:ext>
            </a:extLst>
          </p:cNvPr>
          <p:cNvCxnSpPr>
            <a:cxnSpLocks/>
          </p:cNvCxnSpPr>
          <p:nvPr/>
        </p:nvCxnSpPr>
        <p:spPr>
          <a:xfrm flipH="1">
            <a:off x="3780616" y="5717644"/>
            <a:ext cx="7183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F5C1-566B-E39C-01C8-61F7C63D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7A3985-828B-A275-0BC8-D827A3D6875E}"/>
              </a:ext>
            </a:extLst>
          </p:cNvPr>
          <p:cNvSpPr txBox="1"/>
          <p:nvPr/>
        </p:nvSpPr>
        <p:spPr>
          <a:xfrm>
            <a:off x="5215964" y="3105834"/>
            <a:ext cx="257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使い方①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95505C-C0F4-020C-E08E-F41F78EF07F7}"/>
              </a:ext>
            </a:extLst>
          </p:cNvPr>
          <p:cNvSpPr txBox="1"/>
          <p:nvPr/>
        </p:nvSpPr>
        <p:spPr>
          <a:xfrm>
            <a:off x="1476996" y="4071894"/>
            <a:ext cx="1004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※</a:t>
            </a:r>
            <a:r>
              <a:rPr kumimoji="1" lang="ja-JP" altLang="en-US" sz="2400" b="1" dirty="0"/>
              <a:t>あらかじめ</a:t>
            </a:r>
            <a:r>
              <a:rPr kumimoji="1" lang="en-US" altLang="ja-JP" sz="2400" b="1" dirty="0"/>
              <a:t>3Dslicer</a:t>
            </a:r>
            <a:r>
              <a:rPr kumimoji="1" lang="ja-JP" altLang="en-US" sz="2400" b="1" dirty="0"/>
              <a:t>に</a:t>
            </a:r>
            <a:r>
              <a:rPr kumimoji="1" lang="en-US" altLang="ja-JP" sz="2400" b="1" dirty="0" err="1"/>
              <a:t>CT,segmentation</a:t>
            </a:r>
            <a:r>
              <a:rPr kumimoji="1" lang="ja-JP" altLang="en-US" sz="2400" b="1" dirty="0"/>
              <a:t>データを読み込んでおく場合</a:t>
            </a:r>
          </a:p>
        </p:txBody>
      </p:sp>
    </p:spTree>
    <p:extLst>
      <p:ext uri="{BB962C8B-B14F-4D97-AF65-F5344CB8AC3E}">
        <p14:creationId xmlns:p14="http://schemas.microsoft.com/office/powerpoint/2010/main" val="318169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3533-B1FD-B760-E670-EE7D8F3F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86597A-00C8-3B1B-2095-2AAE19FDD240}"/>
              </a:ext>
            </a:extLst>
          </p:cNvPr>
          <p:cNvSpPr txBox="1"/>
          <p:nvPr/>
        </p:nvSpPr>
        <p:spPr>
          <a:xfrm>
            <a:off x="545911" y="423080"/>
            <a:ext cx="1008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How to use </a:t>
            </a:r>
            <a:r>
              <a:rPr kumimoji="1" lang="en-US" altLang="ja-JP" sz="3600" b="1" dirty="0"/>
              <a:t>(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Loading from a Scene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 が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True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の場合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67D6A2-7CDF-0C78-B843-914F4DAFB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458" y="1305721"/>
            <a:ext cx="6214677" cy="364193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646890-061C-2038-B60B-2AC6B335694A}"/>
              </a:ext>
            </a:extLst>
          </p:cNvPr>
          <p:cNvSpPr txBox="1"/>
          <p:nvPr/>
        </p:nvSpPr>
        <p:spPr>
          <a:xfrm>
            <a:off x="760127" y="5805425"/>
            <a:ext cx="10545337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② </a:t>
            </a:r>
            <a:r>
              <a:rPr kumimoji="1" lang="en-US" altLang="ja-JP" sz="2000" b="1" dirty="0"/>
              <a:t>Description </a:t>
            </a:r>
            <a:r>
              <a:rPr kumimoji="1" lang="ja-JP" altLang="en-US" sz="2000" b="1" dirty="0"/>
              <a:t>を</a:t>
            </a:r>
            <a:r>
              <a:rPr kumimoji="1" lang="en-US" altLang="ja-JP" sz="2000" b="1" dirty="0"/>
              <a:t>CT</a:t>
            </a:r>
            <a:r>
              <a:rPr kumimoji="1" lang="ja-JP" altLang="en-US" sz="2000" b="1" dirty="0"/>
              <a:t>は</a:t>
            </a:r>
            <a:r>
              <a:rPr kumimoji="1" lang="en-US" altLang="ja-JP" sz="2000" b="1" dirty="0">
                <a:solidFill>
                  <a:srgbClr val="00B0F0"/>
                </a:solidFill>
              </a:rPr>
              <a:t>Volume</a:t>
            </a:r>
            <a:r>
              <a:rPr kumimoji="1" lang="ja-JP" altLang="en-US" sz="2000" b="1" dirty="0"/>
              <a:t>，セグメンテーションは</a:t>
            </a:r>
            <a:r>
              <a:rPr kumimoji="1" lang="en-US" altLang="ja-JP" sz="2000" b="1" dirty="0"/>
              <a:t> </a:t>
            </a:r>
            <a:r>
              <a:rPr kumimoji="1" lang="en-US" altLang="ja-JP" sz="2000" b="1" dirty="0">
                <a:solidFill>
                  <a:srgbClr val="00B0F0"/>
                </a:solidFill>
              </a:rPr>
              <a:t>Segmentation</a:t>
            </a:r>
            <a:r>
              <a:rPr kumimoji="1" lang="en-US" altLang="ja-JP" sz="2000" b="1" dirty="0"/>
              <a:t> </a:t>
            </a:r>
            <a:r>
              <a:rPr kumimoji="1" lang="ja-JP" altLang="en-US" sz="2000" b="1" dirty="0"/>
              <a:t>にして</a:t>
            </a:r>
            <a:r>
              <a:rPr kumimoji="1" lang="en-US" altLang="ja-JP" sz="2000" b="1" dirty="0"/>
              <a:t>OK.</a:t>
            </a:r>
            <a:endParaRPr kumimoji="1" lang="ja-JP" altLang="en-US" sz="20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610918-2333-50C9-C315-9C2E37084B26}"/>
              </a:ext>
            </a:extLst>
          </p:cNvPr>
          <p:cNvSpPr txBox="1"/>
          <p:nvPr/>
        </p:nvSpPr>
        <p:spPr>
          <a:xfrm>
            <a:off x="760127" y="5299133"/>
            <a:ext cx="10545337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① </a:t>
            </a:r>
            <a:r>
              <a:rPr kumimoji="1" lang="en-US" altLang="ja-JP" sz="2000" b="1" dirty="0"/>
              <a:t>3Dslicer</a:t>
            </a:r>
            <a:r>
              <a:rPr kumimoji="1" lang="ja-JP" altLang="en-US" sz="2000" b="1" dirty="0"/>
              <a:t>に</a:t>
            </a:r>
            <a:r>
              <a:rPr kumimoji="1" lang="en-US" altLang="ja-JP" sz="2000" b="1" dirty="0"/>
              <a:t>CT</a:t>
            </a:r>
            <a:r>
              <a:rPr kumimoji="1" lang="ja-JP" altLang="en-US" sz="2000" b="1" dirty="0"/>
              <a:t>とセグメンテーションデータをドラッグアンドドロップ</a:t>
            </a:r>
            <a:r>
              <a:rPr kumimoji="1" lang="en-US" altLang="ja-JP" sz="2000" b="1" dirty="0"/>
              <a:t>.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14783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BAC8-28E0-3205-0690-8C3B121C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23C85C2-8EFD-E635-D743-FBFF5E6C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900" b="29152"/>
          <a:stretch>
            <a:fillRect/>
          </a:stretch>
        </p:blipFill>
        <p:spPr>
          <a:xfrm>
            <a:off x="614143" y="1281306"/>
            <a:ext cx="4655281" cy="509624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8D270D-1102-9BBD-A11A-F0AF2F3E239E}"/>
              </a:ext>
            </a:extLst>
          </p:cNvPr>
          <p:cNvSpPr txBox="1"/>
          <p:nvPr/>
        </p:nvSpPr>
        <p:spPr>
          <a:xfrm>
            <a:off x="5557345" y="1759966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③ 解析したい冠動脈名をチェック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59A8F37-34CD-6F4B-79F5-A41105BB1918}"/>
              </a:ext>
            </a:extLst>
          </p:cNvPr>
          <p:cNvSpPr txBox="1"/>
          <p:nvPr/>
        </p:nvSpPr>
        <p:spPr>
          <a:xfrm>
            <a:off x="5565094" y="2338570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④ </a:t>
            </a:r>
            <a:r>
              <a:rPr kumimoji="1" lang="en-US" altLang="ja-JP" sz="2000" b="1" dirty="0"/>
              <a:t>CT volume</a:t>
            </a:r>
            <a:r>
              <a:rPr kumimoji="1" lang="ja-JP" altLang="en-US" sz="2000" b="1" dirty="0"/>
              <a:t>の名前を選択</a:t>
            </a:r>
            <a:r>
              <a:rPr kumimoji="1" lang="en-US" altLang="ja-JP" sz="2000" b="1" dirty="0"/>
              <a:t>(</a:t>
            </a:r>
            <a:r>
              <a:rPr kumimoji="1" lang="ja-JP" altLang="en-US" sz="2000" b="1" dirty="0"/>
              <a:t>例：</a:t>
            </a:r>
            <a:r>
              <a:rPr kumimoji="1" lang="en-US" altLang="ja-JP" sz="2000" b="1" dirty="0"/>
              <a:t>1.img)</a:t>
            </a:r>
            <a:endParaRPr kumimoji="1" lang="ja-JP" altLang="en-US" sz="20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3182303-9E2B-C9FD-53CC-8205C9373013}"/>
              </a:ext>
            </a:extLst>
          </p:cNvPr>
          <p:cNvSpPr txBox="1"/>
          <p:nvPr/>
        </p:nvSpPr>
        <p:spPr>
          <a:xfrm>
            <a:off x="5565094" y="2844862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⑤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[1]: Get CT Node</a:t>
            </a:r>
            <a:r>
              <a:rPr kumimoji="1" lang="en-US" altLang="ja-JP" sz="2000" b="1" dirty="0"/>
              <a:t> ”</a:t>
            </a:r>
            <a:r>
              <a:rPr kumimoji="1" lang="ja-JP" altLang="en-US" sz="2000" b="1" dirty="0"/>
              <a:t>をクリック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01C712-E8DA-1924-2F01-B5492AFFA531}"/>
              </a:ext>
            </a:extLst>
          </p:cNvPr>
          <p:cNvSpPr txBox="1"/>
          <p:nvPr/>
        </p:nvSpPr>
        <p:spPr>
          <a:xfrm>
            <a:off x="5565093" y="3351154"/>
            <a:ext cx="6143875" cy="9708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⑥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[2]: Starting Point </a:t>
            </a:r>
            <a:r>
              <a:rPr kumimoji="1" lang="en-US" altLang="ja-JP" sz="2000" b="1" dirty="0"/>
              <a:t>” </a:t>
            </a:r>
            <a:r>
              <a:rPr kumimoji="1" lang="ja-JP" altLang="en-US" sz="2000" b="1" dirty="0"/>
              <a:t>をクリックして</a:t>
            </a:r>
            <a:r>
              <a:rPr kumimoji="1" lang="en-US" altLang="ja-JP" sz="2000" b="1" dirty="0"/>
              <a:t>CT</a:t>
            </a:r>
            <a:r>
              <a:rPr kumimoji="1" lang="ja-JP" altLang="en-US" sz="2000" b="1" dirty="0"/>
              <a:t>画像上で</a:t>
            </a:r>
            <a:endParaRPr kumimoji="1" lang="en-US" altLang="ja-JP" sz="2000" b="1" dirty="0"/>
          </a:p>
          <a:p>
            <a:pPr>
              <a:lnSpc>
                <a:spcPct val="150000"/>
              </a:lnSpc>
            </a:pPr>
            <a:r>
              <a:rPr kumimoji="1" lang="ja-JP" altLang="en-US" sz="2000" b="1" dirty="0"/>
              <a:t>　起始部の点を設定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9CA9DAF-8C71-B234-DFBB-5472265644D0}"/>
              </a:ext>
            </a:extLst>
          </p:cNvPr>
          <p:cNvSpPr txBox="1"/>
          <p:nvPr/>
        </p:nvSpPr>
        <p:spPr>
          <a:xfrm>
            <a:off x="5565093" y="4287978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⑦ セグメンテーション名を選択</a:t>
            </a:r>
            <a:r>
              <a:rPr kumimoji="1" lang="en-US" altLang="ja-JP" sz="2000" b="1" dirty="0"/>
              <a:t> (</a:t>
            </a:r>
            <a:r>
              <a:rPr kumimoji="1" lang="ja-JP" altLang="en-US" sz="2000" b="1" dirty="0"/>
              <a:t>例：</a:t>
            </a:r>
            <a:r>
              <a:rPr kumimoji="1" lang="en-US" altLang="ja-JP" sz="2000" b="1" dirty="0"/>
              <a:t>R.nii.gz)</a:t>
            </a:r>
            <a:endParaRPr kumimoji="1" lang="ja-JP" altLang="en-US" sz="2000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C7A570-FB2C-0224-D5A0-D4A2BDB562C8}"/>
              </a:ext>
            </a:extLst>
          </p:cNvPr>
          <p:cNvSpPr txBox="1"/>
          <p:nvPr/>
        </p:nvSpPr>
        <p:spPr>
          <a:xfrm>
            <a:off x="545911" y="423080"/>
            <a:ext cx="1008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How to use </a:t>
            </a:r>
            <a:r>
              <a:rPr kumimoji="1" lang="en-US" altLang="ja-JP" sz="3600" b="1" dirty="0"/>
              <a:t>(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Loading from a Scene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 が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True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の場合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95875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ECEE-0070-B6A8-6244-8785E33F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3115AF-B5DF-0727-C707-9C49165D99D4}"/>
              </a:ext>
            </a:extLst>
          </p:cNvPr>
          <p:cNvSpPr txBox="1"/>
          <p:nvPr/>
        </p:nvSpPr>
        <p:spPr>
          <a:xfrm>
            <a:off x="5588341" y="1545602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⑧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[3]: Select branches</a:t>
            </a:r>
            <a:r>
              <a:rPr kumimoji="1" lang="en-US" altLang="ja-JP" sz="2000" b="1" dirty="0"/>
              <a:t> ”</a:t>
            </a:r>
            <a:r>
              <a:rPr kumimoji="1" lang="ja-JP" altLang="en-US" sz="2000" b="1" dirty="0"/>
              <a:t>をクリック．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0A47CB3-1A8B-6894-6E6F-E5ED0E512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86" b="72090"/>
          <a:stretch>
            <a:fillRect/>
          </a:stretch>
        </p:blipFill>
        <p:spPr>
          <a:xfrm>
            <a:off x="141812" y="1267000"/>
            <a:ext cx="5330445" cy="368859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55F758-9A93-F39A-8089-D67D53967EAC}"/>
              </a:ext>
            </a:extLst>
          </p:cNvPr>
          <p:cNvSpPr txBox="1"/>
          <p:nvPr/>
        </p:nvSpPr>
        <p:spPr>
          <a:xfrm>
            <a:off x="5743323" y="2319246"/>
            <a:ext cx="6143875" cy="26417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600" b="1" dirty="0"/>
              <a:t>3D</a:t>
            </a:r>
            <a:r>
              <a:rPr kumimoji="1" lang="ja-JP" altLang="en-US" sz="1600" b="1" dirty="0"/>
              <a:t>画面で中心線</a:t>
            </a:r>
            <a:r>
              <a:rPr kumimoji="1" lang="en-US" altLang="ja-JP" sz="1600" b="1" dirty="0"/>
              <a:t>,ID, </a:t>
            </a:r>
            <a:r>
              <a:rPr kumimoji="1" lang="ja-JP" altLang="en-US" sz="1600" b="1" dirty="0"/>
              <a:t>長さを確認</a:t>
            </a:r>
            <a:r>
              <a:rPr kumimoji="1" lang="en-US" altLang="ja-JP" sz="1600" b="1" dirty="0"/>
              <a:t>.</a:t>
            </a:r>
            <a:br>
              <a:rPr kumimoji="1" lang="en-US" altLang="ja-JP" sz="1600" b="1" dirty="0"/>
            </a:br>
            <a:r>
              <a:rPr kumimoji="1" lang="en-US" altLang="ja-JP" sz="1600" b="1" dirty="0"/>
              <a:t> </a:t>
            </a:r>
            <a:r>
              <a:rPr kumimoji="1" lang="en-US" altLang="ja-JP" sz="1600" b="1" dirty="0">
                <a:solidFill>
                  <a:srgbClr val="00B0F0"/>
                </a:solidFill>
              </a:rPr>
              <a:t>RCA</a:t>
            </a:r>
            <a:r>
              <a:rPr kumimoji="1" lang="ja-JP" altLang="en-US" sz="1600" b="1" dirty="0"/>
              <a:t>の場合：</a:t>
            </a:r>
            <a:r>
              <a:rPr kumimoji="1" lang="en-US" altLang="ja-JP" sz="1600" b="1" dirty="0"/>
              <a:t> PCAT</a:t>
            </a:r>
            <a:r>
              <a:rPr kumimoji="1" lang="ja-JP" altLang="en-US" sz="1600" b="1" dirty="0"/>
              <a:t>計測に必要な</a:t>
            </a:r>
            <a:r>
              <a:rPr kumimoji="1" lang="en-US" altLang="ja-JP" sz="1600" b="1" dirty="0"/>
              <a:t>Branch </a:t>
            </a:r>
            <a:r>
              <a:rPr kumimoji="1" lang="en-US" altLang="ja-JP" sz="1600" b="1" dirty="0" err="1"/>
              <a:t>iD</a:t>
            </a:r>
            <a:r>
              <a:rPr kumimoji="1" lang="ja-JP" altLang="en-US" sz="1600" b="1" dirty="0"/>
              <a:t>はある程度自動で選択されます．</a:t>
            </a:r>
            <a:r>
              <a:rPr kumimoji="1" lang="en-US" altLang="ja-JP" sz="1600" b="1" dirty="0"/>
              <a:t>.</a:t>
            </a:r>
          </a:p>
          <a:p>
            <a:pPr>
              <a:lnSpc>
                <a:spcPct val="150000"/>
              </a:lnSpc>
            </a:pPr>
            <a:endParaRPr kumimoji="1" lang="en-US" altLang="ja-JP" sz="1600" b="1" dirty="0"/>
          </a:p>
          <a:p>
            <a:pPr>
              <a:lnSpc>
                <a:spcPct val="150000"/>
              </a:lnSpc>
            </a:pPr>
            <a:r>
              <a:rPr kumimoji="1" lang="en-US" altLang="ja-JP" sz="1600" b="1" dirty="0">
                <a:solidFill>
                  <a:srgbClr val="00B0F0"/>
                </a:solidFill>
              </a:rPr>
              <a:t>LAD/LCX</a:t>
            </a:r>
            <a:r>
              <a:rPr kumimoji="1" lang="ja-JP" altLang="en-US" sz="1600" b="1" dirty="0"/>
              <a:t>の場合：自動で選択が</a:t>
            </a:r>
            <a:r>
              <a:rPr kumimoji="1" lang="en-US" altLang="ja-JP" sz="1600" b="1" dirty="0"/>
              <a:t> </a:t>
            </a:r>
            <a:r>
              <a:rPr kumimoji="1" lang="ja-JP" altLang="en-US" sz="1600" b="1" dirty="0"/>
              <a:t>難しいので手動で選んでください</a:t>
            </a:r>
            <a:r>
              <a:rPr kumimoji="1" lang="en-US" altLang="ja-JP" sz="1600" b="1" dirty="0"/>
              <a:t>.</a:t>
            </a:r>
            <a:br>
              <a:rPr kumimoji="1" lang="en-US" altLang="ja-JP" sz="1600" b="1" dirty="0"/>
            </a:br>
            <a:r>
              <a:rPr kumimoji="1" lang="ja-JP" altLang="en-US" sz="1600" b="1" dirty="0"/>
              <a:t>（</a:t>
            </a:r>
            <a:r>
              <a:rPr kumimoji="1" lang="en-US" altLang="ja-JP" sz="1600" b="1" dirty="0"/>
              <a:t>LAD</a:t>
            </a:r>
            <a:r>
              <a:rPr kumimoji="1" lang="ja-JP" altLang="en-US" sz="1600" b="1" dirty="0"/>
              <a:t>をチェックしてたら，</a:t>
            </a:r>
            <a:r>
              <a:rPr kumimoji="1" lang="en-US" altLang="ja-JP" sz="1600" b="1" dirty="0"/>
              <a:t>LAD</a:t>
            </a:r>
            <a:r>
              <a:rPr kumimoji="1" lang="ja-JP" altLang="en-US" sz="1600" b="1" dirty="0"/>
              <a:t>のみの枝にして下さい．）</a:t>
            </a:r>
            <a:endParaRPr kumimoji="1" lang="en-US" altLang="ja-JP" sz="1600" b="1" dirty="0"/>
          </a:p>
          <a:p>
            <a:pPr>
              <a:lnSpc>
                <a:spcPct val="150000"/>
              </a:lnSpc>
            </a:pPr>
            <a:r>
              <a:rPr kumimoji="1" lang="en-US" altLang="ja-JP" sz="1600" b="1" dirty="0" err="1"/>
              <a:t>Sselected</a:t>
            </a:r>
            <a:r>
              <a:rPr kumimoji="1" lang="en-US" altLang="ja-JP" sz="1600" b="1" dirty="0"/>
              <a:t> total length </a:t>
            </a:r>
            <a:r>
              <a:rPr kumimoji="1" lang="ja-JP" altLang="en-US" sz="1600" b="1" dirty="0"/>
              <a:t>が</a:t>
            </a:r>
            <a:r>
              <a:rPr kumimoji="1" lang="en-US" altLang="ja-JP" sz="1600" b="1" dirty="0"/>
              <a:t> 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400 mm</a:t>
            </a:r>
            <a:r>
              <a:rPr kumimoji="1" lang="en-US" altLang="ja-JP" sz="1600" b="1" dirty="0"/>
              <a:t> </a:t>
            </a:r>
            <a:r>
              <a:rPr kumimoji="1" lang="ja-JP" altLang="en-US" sz="1600" b="1" dirty="0"/>
              <a:t>以上になるように選択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F729711-2427-9363-10A3-FCCFD9A0853D}"/>
              </a:ext>
            </a:extLst>
          </p:cNvPr>
          <p:cNvSpPr txBox="1"/>
          <p:nvPr/>
        </p:nvSpPr>
        <p:spPr>
          <a:xfrm>
            <a:off x="5588341" y="5411552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⑨ </a:t>
            </a:r>
            <a:r>
              <a:rPr kumimoji="1" lang="en-US" altLang="ja-JP" sz="2000" b="1" dirty="0"/>
              <a:t>“ OK ”</a:t>
            </a:r>
            <a:r>
              <a:rPr kumimoji="1" lang="ja-JP" altLang="en-US" sz="2000" b="1" dirty="0"/>
              <a:t>をクリック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1183F04-C77F-F77E-292E-3474BAEF27CB}"/>
              </a:ext>
            </a:extLst>
          </p:cNvPr>
          <p:cNvSpPr txBox="1"/>
          <p:nvPr/>
        </p:nvSpPr>
        <p:spPr>
          <a:xfrm>
            <a:off x="5588341" y="6004265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⑩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[4]: Analysis PCAT </a:t>
            </a:r>
            <a:r>
              <a:rPr kumimoji="1" lang="en-US" altLang="ja-JP" sz="2000" b="1" dirty="0"/>
              <a:t>”</a:t>
            </a:r>
            <a:r>
              <a:rPr kumimoji="1" lang="ja-JP" altLang="en-US" sz="2000" b="1" dirty="0"/>
              <a:t>をクリック</a:t>
            </a:r>
            <a:endParaRPr kumimoji="1" lang="en-US" altLang="ja-JP" sz="2000" b="1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7BADEBAF-C464-B51A-4A32-1425479B0F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17" r="60900" b="29152"/>
          <a:stretch>
            <a:fillRect/>
          </a:stretch>
        </p:blipFill>
        <p:spPr>
          <a:xfrm>
            <a:off x="545911" y="5153185"/>
            <a:ext cx="4655281" cy="1678169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15D65CB-7BA2-08DE-C28E-4D3532084AA5}"/>
              </a:ext>
            </a:extLst>
          </p:cNvPr>
          <p:cNvSpPr txBox="1"/>
          <p:nvPr/>
        </p:nvSpPr>
        <p:spPr>
          <a:xfrm>
            <a:off x="5975490" y="6492800"/>
            <a:ext cx="645846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1600" b="1" dirty="0"/>
              <a:t>PCAT</a:t>
            </a:r>
            <a:r>
              <a:rPr lang="ja-JP" altLang="en-US" sz="1600" b="1" dirty="0"/>
              <a:t>が</a:t>
            </a:r>
            <a:r>
              <a:rPr lang="en-US" altLang="ja-JP" sz="1600" b="1" dirty="0"/>
              <a:t>python interactor</a:t>
            </a:r>
            <a:r>
              <a:rPr lang="ja-JP" altLang="en-US" sz="1600" b="1" dirty="0"/>
              <a:t>に表示．（自動で</a:t>
            </a:r>
            <a:r>
              <a:rPr lang="en-US" altLang="ja-JP" sz="1600" b="1" dirty="0"/>
              <a:t>csv</a:t>
            </a:r>
            <a:r>
              <a:rPr lang="ja-JP" altLang="en-US" sz="1600" b="1" dirty="0"/>
              <a:t>として保存されます．）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BE0B0-3858-A0D5-2376-CE4402301D4A}"/>
              </a:ext>
            </a:extLst>
          </p:cNvPr>
          <p:cNvSpPr txBox="1"/>
          <p:nvPr/>
        </p:nvSpPr>
        <p:spPr>
          <a:xfrm>
            <a:off x="545911" y="423080"/>
            <a:ext cx="1008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How to use </a:t>
            </a:r>
            <a:r>
              <a:rPr kumimoji="1" lang="en-US" altLang="ja-JP" sz="3600" b="1" dirty="0"/>
              <a:t>(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Loading from a Scene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 が</a:t>
            </a:r>
            <a:r>
              <a:rPr kumimoji="1" lang="en-US" altLang="ja-JP" sz="3600" b="1" dirty="0">
                <a:solidFill>
                  <a:srgbClr val="00B0F0"/>
                </a:solidFill>
              </a:rPr>
              <a:t>True</a:t>
            </a:r>
            <a:r>
              <a:rPr kumimoji="1" lang="ja-JP" altLang="en-US" sz="3600" b="1" dirty="0">
                <a:solidFill>
                  <a:srgbClr val="00B0F0"/>
                </a:solidFill>
              </a:rPr>
              <a:t>の場合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02392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E2D3-19DF-9277-6439-19E85A7E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DB2233-3DC4-C758-1E96-385C6C5F1073}"/>
              </a:ext>
            </a:extLst>
          </p:cNvPr>
          <p:cNvSpPr txBox="1"/>
          <p:nvPr/>
        </p:nvSpPr>
        <p:spPr>
          <a:xfrm>
            <a:off x="545911" y="423080"/>
            <a:ext cx="782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How to use </a:t>
            </a:r>
            <a:r>
              <a:rPr kumimoji="1" lang="en-US" altLang="ja-JP" sz="3600" b="1" dirty="0"/>
              <a:t>(</a:t>
            </a:r>
            <a:r>
              <a:rPr kumimoji="1" lang="ja-JP" altLang="en-US" sz="3600" b="1" dirty="0"/>
              <a:t>解析終了画面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98014F9-2748-E276-8C81-09DEBD4E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47" y="1039732"/>
            <a:ext cx="9630236" cy="581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85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E8D2-5F73-FAFE-2E9A-F3CD2F13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B894DA-21A8-7DD9-002B-569A9A928D96}"/>
              </a:ext>
            </a:extLst>
          </p:cNvPr>
          <p:cNvSpPr txBox="1"/>
          <p:nvPr/>
        </p:nvSpPr>
        <p:spPr>
          <a:xfrm>
            <a:off x="5215964" y="3105834"/>
            <a:ext cx="257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使い方②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B738F5-2CDC-4E2B-A846-8A9040E5BDDC}"/>
              </a:ext>
            </a:extLst>
          </p:cNvPr>
          <p:cNvSpPr txBox="1"/>
          <p:nvPr/>
        </p:nvSpPr>
        <p:spPr>
          <a:xfrm>
            <a:off x="2561878" y="4110640"/>
            <a:ext cx="7481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※</a:t>
            </a:r>
            <a:r>
              <a:rPr kumimoji="1" lang="ja-JP" altLang="en-US" sz="2400" b="1" dirty="0"/>
              <a:t>ファイルダイアログからデータを読み込む場合</a:t>
            </a:r>
          </a:p>
        </p:txBody>
      </p:sp>
    </p:spTree>
    <p:extLst>
      <p:ext uri="{BB962C8B-B14F-4D97-AF65-F5344CB8AC3E}">
        <p14:creationId xmlns:p14="http://schemas.microsoft.com/office/powerpoint/2010/main" val="2784303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A934-40CE-B639-CDA5-E13A2747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A5593A-1F89-24FB-4046-F7EBFFE39648}"/>
              </a:ext>
            </a:extLst>
          </p:cNvPr>
          <p:cNvSpPr txBox="1"/>
          <p:nvPr/>
        </p:nvSpPr>
        <p:spPr>
          <a:xfrm>
            <a:off x="545911" y="423080"/>
            <a:ext cx="11727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highlight>
                  <a:srgbClr val="00FF00"/>
                </a:highlight>
              </a:rPr>
              <a:t>How to use </a:t>
            </a:r>
            <a:r>
              <a:rPr kumimoji="1" lang="en-US" altLang="ja-JP" sz="3600" b="1" dirty="0"/>
              <a:t>(</a:t>
            </a:r>
            <a:r>
              <a:rPr kumimoji="1" lang="en-US" altLang="ja-JP" sz="3600" b="1" dirty="0">
                <a:solidFill>
                  <a:srgbClr val="FFC000"/>
                </a:solidFill>
              </a:rPr>
              <a:t>Loading from a file dialog False</a:t>
            </a:r>
            <a:r>
              <a:rPr kumimoji="1" lang="ja-JP" altLang="en-US" sz="3600" b="1" dirty="0">
                <a:solidFill>
                  <a:srgbClr val="FFC000"/>
                </a:solidFill>
              </a:rPr>
              <a:t>の場合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052E57-042A-C16D-4239-349E58EC7014}"/>
              </a:ext>
            </a:extLst>
          </p:cNvPr>
          <p:cNvSpPr txBox="1"/>
          <p:nvPr/>
        </p:nvSpPr>
        <p:spPr>
          <a:xfrm>
            <a:off x="4812823" y="2063603"/>
            <a:ext cx="7621132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②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From Scene(True) or dialog(False) </a:t>
            </a:r>
            <a:r>
              <a:rPr kumimoji="1" lang="en-US" altLang="ja-JP" sz="2000" b="1" dirty="0"/>
              <a:t>“</a:t>
            </a:r>
            <a:r>
              <a:rPr kumimoji="1" lang="ja-JP" altLang="en-US" sz="2000" b="1" dirty="0"/>
              <a:t>のチェックを外す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086E17-7892-6A4A-384A-BA9DE4810C3C}"/>
              </a:ext>
            </a:extLst>
          </p:cNvPr>
          <p:cNvSpPr txBox="1"/>
          <p:nvPr/>
        </p:nvSpPr>
        <p:spPr>
          <a:xfrm>
            <a:off x="5118680" y="4780153"/>
            <a:ext cx="6093151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2000" b="1" dirty="0"/>
              <a:t> </a:t>
            </a:r>
            <a:r>
              <a:rPr kumimoji="1" lang="ja-JP" altLang="en-US" sz="1400" b="1" dirty="0"/>
              <a:t>▼</a:t>
            </a:r>
            <a:r>
              <a:rPr kumimoji="1" lang="en-US" altLang="ja-JP" sz="2000" b="1" dirty="0" err="1"/>
              <a:t>ComboBox</a:t>
            </a:r>
            <a:r>
              <a:rPr kumimoji="1" lang="en-US" altLang="ja-JP" sz="2000" b="1" dirty="0"/>
              <a:t> </a:t>
            </a:r>
            <a:r>
              <a:rPr kumimoji="1" lang="ja-JP" altLang="en-US" sz="2000" b="1" dirty="0"/>
              <a:t>は</a:t>
            </a:r>
            <a:r>
              <a:rPr kumimoji="1" lang="en-US" altLang="ja-JP" sz="2000" b="1" dirty="0"/>
              <a:t>None</a:t>
            </a:r>
            <a:r>
              <a:rPr kumimoji="1" lang="ja-JP" altLang="en-US" sz="2000" b="1" dirty="0"/>
              <a:t>で</a:t>
            </a:r>
            <a:r>
              <a:rPr kumimoji="1" lang="en-US" altLang="ja-JP" sz="2000" b="1" dirty="0"/>
              <a:t>OK</a:t>
            </a:r>
            <a:endParaRPr kumimoji="1" lang="ja-JP" altLang="en-US" sz="20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70C70F-8698-64D3-CE31-535BC2AAC829}"/>
              </a:ext>
            </a:extLst>
          </p:cNvPr>
          <p:cNvSpPr txBox="1"/>
          <p:nvPr/>
        </p:nvSpPr>
        <p:spPr>
          <a:xfrm>
            <a:off x="4812823" y="2635339"/>
            <a:ext cx="7771961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③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[1]: Get CT Node </a:t>
            </a:r>
            <a:r>
              <a:rPr kumimoji="1" lang="en-US" altLang="ja-JP" sz="2000" b="1" dirty="0"/>
              <a:t>”</a:t>
            </a:r>
            <a:r>
              <a:rPr kumimoji="1" lang="ja-JP" altLang="en-US" sz="2000" b="1" dirty="0"/>
              <a:t> を押して，フォルダから</a:t>
            </a:r>
            <a:r>
              <a:rPr kumimoji="1" lang="en-US" altLang="ja-JP" sz="2000" b="1" dirty="0"/>
              <a:t>CT</a:t>
            </a:r>
            <a:r>
              <a:rPr kumimoji="1" lang="ja-JP" altLang="en-US" sz="2000" b="1" dirty="0"/>
              <a:t>画像を選択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21FD4FB-B89C-875E-07FB-8EEF158E79EE}"/>
              </a:ext>
            </a:extLst>
          </p:cNvPr>
          <p:cNvSpPr txBox="1"/>
          <p:nvPr/>
        </p:nvSpPr>
        <p:spPr>
          <a:xfrm>
            <a:off x="4812823" y="3295450"/>
            <a:ext cx="6143875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④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[2]: Starting Point </a:t>
            </a:r>
            <a:r>
              <a:rPr kumimoji="1" lang="en-US" altLang="ja-JP" sz="2000" b="1" dirty="0"/>
              <a:t>” </a:t>
            </a:r>
            <a:r>
              <a:rPr kumimoji="1" lang="ja-JP" altLang="en-US" sz="2000" b="1" dirty="0"/>
              <a:t>をおして起始部を設定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025F07A-F5D0-93AE-A5B1-2EFA3CBC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57" r="40391" b="46780"/>
          <a:stretch>
            <a:fillRect/>
          </a:stretch>
        </p:blipFill>
        <p:spPr>
          <a:xfrm>
            <a:off x="405541" y="1184415"/>
            <a:ext cx="4329192" cy="535183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276F55-6F68-1AB8-B784-699EE5A5C369}"/>
              </a:ext>
            </a:extLst>
          </p:cNvPr>
          <p:cNvSpPr txBox="1"/>
          <p:nvPr/>
        </p:nvSpPr>
        <p:spPr>
          <a:xfrm>
            <a:off x="4812823" y="1481845"/>
            <a:ext cx="5023264" cy="506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①解析したい冠動脈名をチェック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217F2B-9838-4797-623A-FEF346047059}"/>
              </a:ext>
            </a:extLst>
          </p:cNvPr>
          <p:cNvSpPr txBox="1"/>
          <p:nvPr/>
        </p:nvSpPr>
        <p:spPr>
          <a:xfrm>
            <a:off x="4812822" y="3992323"/>
            <a:ext cx="7379177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⑤ </a:t>
            </a:r>
            <a:r>
              <a:rPr kumimoji="1" lang="en-US" altLang="ja-JP" sz="2000" b="1" dirty="0"/>
              <a:t>“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[3]: Select branches </a:t>
            </a:r>
            <a:r>
              <a:rPr kumimoji="1" lang="en-US" altLang="ja-JP" sz="2000" b="1" dirty="0"/>
              <a:t>”</a:t>
            </a:r>
            <a:r>
              <a:rPr kumimoji="1" lang="ja-JP" altLang="en-US" sz="2000" b="1" dirty="0"/>
              <a:t> を押してセグメンテーションを選択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21C5117-88B6-96A4-7D0A-871E08EC4DC1}"/>
              </a:ext>
            </a:extLst>
          </p:cNvPr>
          <p:cNvSpPr txBox="1"/>
          <p:nvPr/>
        </p:nvSpPr>
        <p:spPr>
          <a:xfrm>
            <a:off x="4812823" y="5383183"/>
            <a:ext cx="7268706" cy="5091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b="1" dirty="0"/>
              <a:t>⑥ あとの処理は同じ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4C5C79-06B9-480A-A212-0246B70C80EE}"/>
              </a:ext>
            </a:extLst>
          </p:cNvPr>
          <p:cNvSpPr txBox="1"/>
          <p:nvPr/>
        </p:nvSpPr>
        <p:spPr>
          <a:xfrm>
            <a:off x="9358114" y="3016798"/>
            <a:ext cx="3707437" cy="380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400" b="1" dirty="0">
                <a:highlight>
                  <a:srgbClr val="FFFF00"/>
                </a:highlight>
              </a:rPr>
              <a:t>※</a:t>
            </a:r>
            <a:r>
              <a:rPr kumimoji="1" lang="ja-JP" altLang="en-US" sz="1400" b="1" dirty="0">
                <a:highlight>
                  <a:srgbClr val="FFFF00"/>
                </a:highlight>
              </a:rPr>
              <a:t>おそらく</a:t>
            </a:r>
            <a:r>
              <a:rPr kumimoji="1" lang="en-US" altLang="ja-JP" sz="1400" b="1" dirty="0">
                <a:highlight>
                  <a:srgbClr val="FFFF00"/>
                </a:highlight>
              </a:rPr>
              <a:t>.nii.gz</a:t>
            </a:r>
            <a:r>
              <a:rPr kumimoji="1" lang="ja-JP" altLang="en-US" sz="1400" b="1" dirty="0">
                <a:highlight>
                  <a:srgbClr val="FFFF00"/>
                </a:highlight>
              </a:rPr>
              <a:t>データのみ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432226-70F1-6EDF-CE52-906709D1EE89}"/>
              </a:ext>
            </a:extLst>
          </p:cNvPr>
          <p:cNvSpPr txBox="1"/>
          <p:nvPr/>
        </p:nvSpPr>
        <p:spPr>
          <a:xfrm>
            <a:off x="9358113" y="4399600"/>
            <a:ext cx="3707437" cy="380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400" b="1" dirty="0">
                <a:highlight>
                  <a:srgbClr val="FFFF00"/>
                </a:highlight>
              </a:rPr>
              <a:t>※</a:t>
            </a:r>
            <a:r>
              <a:rPr kumimoji="1" lang="ja-JP" altLang="en-US" sz="1400" b="1" dirty="0">
                <a:highlight>
                  <a:srgbClr val="FFFF00"/>
                </a:highlight>
              </a:rPr>
              <a:t>おそらく</a:t>
            </a:r>
            <a:r>
              <a:rPr kumimoji="1" lang="en-US" altLang="ja-JP" sz="1400" b="1" dirty="0">
                <a:highlight>
                  <a:srgbClr val="FFFF00"/>
                </a:highlight>
              </a:rPr>
              <a:t>.nii.gz</a:t>
            </a:r>
            <a:r>
              <a:rPr kumimoji="1" lang="ja-JP" altLang="en-US" sz="1400" b="1" dirty="0">
                <a:highlight>
                  <a:srgbClr val="FFFF00"/>
                </a:highlight>
              </a:rPr>
              <a:t>データのみ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086E579-7465-941F-D7F3-ACE2B5E7191F}"/>
              </a:ext>
            </a:extLst>
          </p:cNvPr>
          <p:cNvCxnSpPr/>
          <p:nvPr/>
        </p:nvCxnSpPr>
        <p:spPr>
          <a:xfrm flipH="1" flipV="1">
            <a:off x="782425" y="3992323"/>
            <a:ext cx="4030397" cy="102273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87FA03F-B984-6576-FF2C-0E4F554451C4}"/>
              </a:ext>
            </a:extLst>
          </p:cNvPr>
          <p:cNvSpPr/>
          <p:nvPr/>
        </p:nvSpPr>
        <p:spPr>
          <a:xfrm>
            <a:off x="235670" y="3795201"/>
            <a:ext cx="546755" cy="3525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364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</TotalTime>
  <Words>704</Words>
  <Application>Microsoft Office PowerPoint</Application>
  <PresentationFormat>ワイド画面</PresentationFormat>
  <Paragraphs>75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 masa</dc:creator>
  <cp:lastModifiedBy>o masa</cp:lastModifiedBy>
  <cp:revision>15</cp:revision>
  <dcterms:created xsi:type="dcterms:W3CDTF">2025-12-18T22:39:52Z</dcterms:created>
  <dcterms:modified xsi:type="dcterms:W3CDTF">2025-12-23T02:21:15Z</dcterms:modified>
</cp:coreProperties>
</file>